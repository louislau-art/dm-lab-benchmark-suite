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CFF"/>
                </a:solidFill>
                <a:latin typeface="Calibri"/>
              </a:defRPr>
            </a:pPr>
            <a:r>
              <a:t>DM-Lab Benchmark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5146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D3FF"/>
                </a:solidFill>
                <a:latin typeface="Calibri"/>
              </a:defRPr>
            </a:pPr>
            <a:r>
              <a:t>INFO911 Group Project · Data Mining and Knowledge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84048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7E4FF"/>
                </a:solidFill>
                <a:latin typeface="Calibri"/>
              </a:defRPr>
            </a:pPr>
            <a:r>
              <a:t>Presenter: Louis Shawn</a:t>
            </a:r>
            <a:br/>
            <a:r>
              <a:t>Date: 2026-03-04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3977639"/>
            <a:ext cx="3611880" cy="1417320"/>
          </a:xfrm>
          <a:prstGeom prst="roundRect">
            <a:avLst/>
          </a:prstGeom>
          <a:solidFill>
            <a:srgbClr val="143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11312" y="422452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E0EEFF"/>
                </a:solidFill>
                <a:latin typeface="Calibri"/>
              </a:defRPr>
            </a:pPr>
            <a:r>
              <a:t>Local-first</a:t>
            </a:r>
            <a:br/>
            <a:r>
              <a:t>Reproducible</a:t>
            </a:r>
            <a:br/>
            <a:r>
              <a:t>AI-driven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E182C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11155680" cy="5486400"/>
          </a:xfrm>
          <a:prstGeom prst="roundRect">
            <a:avLst/>
          </a:prstGeom>
          <a:solidFill>
            <a:srgbClr val="F3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98448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0E182C"/>
                </a:solidFill>
                <a:latin typeface="Calibri"/>
              </a:defRPr>
            </a:pPr>
            <a:r>
              <a:t>1. Objective and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58568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0E182C"/>
                </a:solidFill>
                <a:latin typeface="Calibri"/>
              </a:defRPr>
            </a:pPr>
            <a:r>
              <a:t>2. Architecture and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18687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0E182C"/>
                </a:solidFill>
                <a:latin typeface="Calibri"/>
              </a:defRPr>
            </a:pPr>
            <a:r>
              <a:t>3. Results across 4 data-mining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78807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0E182C"/>
                </a:solidFill>
                <a:latin typeface="Calibri"/>
              </a:defRPr>
            </a:pPr>
            <a:r>
              <a:t>4. Ablation and error-analysis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38927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0E182C"/>
                </a:solidFill>
                <a:latin typeface="Calibri"/>
              </a:defRPr>
            </a:pPr>
            <a:r>
              <a:t>5. Live demo flow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E182C"/>
                </a:solidFill>
                <a:latin typeface="Calibri"/>
              </a:defRPr>
            </a:pPr>
            <a:r>
              <a:t>Project Framing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960120"/>
            <a:ext cx="557784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55080" y="960120"/>
            <a:ext cx="5257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E182C"/>
                </a:solidFill>
                <a:latin typeface="Calibri"/>
              </a:defRPr>
            </a:pPr>
            <a:r>
              <a:t>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E182C"/>
                </a:solidFill>
                <a:latin typeface="Calibri"/>
              </a:defRPr>
            </a:pPr>
            <a:r>
              <a:t>• Cover 4 core data-mining tasks</a:t>
            </a:r>
            <a:br/>
            <a:r>
              <a:t>• Keep implementation local-first and reproducible</a:t>
            </a:r>
            <a:br/>
            <a:r>
              <a:t>• Build demo-friendly dashboard and report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E182C"/>
                </a:solidFill>
                <a:latin typeface="Calibri"/>
              </a:defRPr>
            </a:pPr>
            <a:r>
              <a:t>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E182C"/>
                </a:solidFill>
                <a:latin typeface="Calibri"/>
              </a:defRPr>
            </a:pPr>
            <a:r>
              <a:t>• 99% AI-driven delivery</a:t>
            </a:r>
            <a:br/>
            <a:r>
              <a:t>• Prefer simplicity over infra complexity</a:t>
            </a:r>
            <a:br/>
            <a:r>
              <a:t>• Maintain enough depth for strong grading</a:t>
            </a:r>
            <a:br/>
            <a:r>
              <a:t>• Package policy: pacman &gt; uv &gt; pip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E182C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645920"/>
            <a:ext cx="2468880" cy="128016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CFF"/>
                </a:solidFill>
                <a:latin typeface="Calibri"/>
              </a:defRPr>
            </a:pPr>
            <a:r>
              <a:t>CLI / Scripts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645920"/>
            <a:ext cx="2468880" cy="1280160"/>
          </a:xfrm>
          <a:prstGeom prst="roundRect">
            <a:avLst/>
          </a:prstGeom>
          <a:solidFill>
            <a:srgbClr val="00A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0" y="18745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CFF"/>
                </a:solidFill>
                <a:latin typeface="Calibri"/>
              </a:defRPr>
            </a:pPr>
            <a:r>
              <a:t>Data Layer</a:t>
            </a:r>
            <a:br/>
            <a:r>
              <a:t>(download + clean)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45920"/>
            <a:ext cx="2468880" cy="128016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CFF"/>
                </a:solidFill>
                <a:latin typeface="Calibri"/>
              </a:defRPr>
            </a:pPr>
            <a:r>
              <a:t>Task Pipelines</a:t>
            </a:r>
            <a:br/>
            <a:r>
              <a:t>(4 tasks)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1645920"/>
            <a:ext cx="2468880" cy="128016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18745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E182C"/>
                </a:solidFill>
                <a:latin typeface="Calibri"/>
              </a:defRPr>
            </a:pPr>
            <a:r>
              <a:t>Reports +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4903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5A6E8C"/>
                </a:solidFill>
                <a:latin typeface="Calibri"/>
              </a:defRPr>
            </a:pPr>
            <a:r>
              <a:t>Main modules: src/dm_lab/{data,tasks,report,pipeline} + app/Home.py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89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5A6E8C"/>
                </a:solidFill>
                <a:latin typeface="Calibri"/>
              </a:defRPr>
            </a:pPr>
            <a:r>
              <a:t>One-command workflow: run -&gt; ui -&gt; test (shell scripts for Linux/Windows)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E182C"/>
                </a:solidFill>
                <a:latin typeface="Calibri"/>
              </a:defRPr>
            </a:pPr>
            <a:r>
              <a:t>Task Coverage and Datasets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05840"/>
            <a:ext cx="5440680" cy="3840480"/>
          </a:xfrm>
          <a:prstGeom prst="roundRect">
            <a:avLst/>
          </a:prstGeom>
          <a:solidFill>
            <a:srgbClr val="F8FBFF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55080" y="1005840"/>
            <a:ext cx="5440680" cy="3840480"/>
          </a:xfrm>
          <a:prstGeom prst="roundRect">
            <a:avLst/>
          </a:prstGeom>
          <a:solidFill>
            <a:srgbClr val="F8FBFF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E182C"/>
                </a:solidFill>
                <a:latin typeface="Calibri"/>
              </a:defRPr>
            </a:pPr>
            <a:r>
              <a:t>Datasets</a:t>
            </a:r>
            <a:br/>
            <a:r>
              <a:t>• Classification: Adult Income</a:t>
            </a:r>
            <a:br/>
            <a:r>
              <a:t>• Clustering: Wholesale Customers</a:t>
            </a:r>
            <a:br/>
            <a:r>
              <a:t>• Association: Online Retail (+ fallback)</a:t>
            </a:r>
            <a:br/>
            <a:r>
              <a:t>• Anomaly: Credit Card Fraud (OpenML)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3258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E182C"/>
                </a:solidFill>
                <a:latin typeface="Calibri"/>
              </a:defRPr>
            </a:pPr>
            <a:r>
              <a:t>Primary Metrics</a:t>
            </a:r>
            <a:br/>
            <a:r>
              <a:t>• Classification: F1 / ROC-AUC</a:t>
            </a:r>
            <a:br/>
            <a:r>
              <a:t>• Clustering: Silhouette / Davies-Bouldin</a:t>
            </a:r>
            <a:br/>
            <a:r>
              <a:t>• Association: Support / Confidence / Lift</a:t>
            </a:r>
            <a:br/>
            <a:r>
              <a:t>• Anomaly: PR-AUC / Recall@k / 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E5476"/>
                </a:solidFill>
                <a:latin typeface="Calibri"/>
              </a:defRPr>
            </a:pPr>
            <a:r>
              <a:t>All runs auto-generate metrics.csv, summary.json, summary.md, and final_report.md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E182C"/>
                </a:solidFill>
                <a:latin typeface="Calibri"/>
              </a:defRPr>
            </a:pPr>
            <a:r>
              <a:t>Quick Run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8961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1828800"/>
                <a:gridCol w="2194560"/>
              </a:tblGrid>
              <a:tr h="877824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8FC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8FCFF"/>
                          </a:solidFill>
                          <a:latin typeface="Calibri"/>
                        </a:defRPr>
                      </a:pPr>
                      <a:r>
                        <a:t>Primary Metric</a:t>
                      </a:r>
                    </a:p>
                  </a:txBody>
                  <a:tcPr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8FC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8FCFF"/>
                          </a:solidFill>
                          <a:latin typeface="Calibri"/>
                        </a:defRPr>
                      </a:pPr>
                      <a:r>
                        <a:t>Normalized Score</a:t>
                      </a:r>
                    </a:p>
                  </a:txBody>
                  <a:tcPr>
                    <a:solidFill>
                      <a:srgbClr val="0077B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latin typeface="Calibri"/>
                        </a:defRPr>
                      </a:pPr>
                      <a:r>
                        <a:t>0.9670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latin typeface="Calibri"/>
                        </a:defRPr>
                      </a:pPr>
                      <a:r>
                        <a:t>96.7%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Calibri"/>
                        </a:defRPr>
                      </a:pPr>
                      <a:r>
                        <a:t>Clustering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Calibri"/>
                        </a:defRPr>
                      </a:pPr>
                      <a:r>
                        <a:t>silhouette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latin typeface="Calibri"/>
                        </a:defRPr>
                      </a:pPr>
                      <a:r>
                        <a:t>0.7364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latin typeface="Calibri"/>
                        </a:defRPr>
                      </a:pPr>
                      <a:r>
                        <a:t>86.8%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Calibri"/>
                        </a:defRPr>
                      </a:pPr>
                      <a:r>
                        <a:t>Association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Calibri"/>
                        </a:defRPr>
                      </a:pPr>
                      <a:r>
                        <a:t>lift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latin typeface="Calibri"/>
                        </a:defRPr>
                      </a:pPr>
                      <a:r>
                        <a:t>2.5000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latin typeface="Calibri"/>
                        </a:defRPr>
                      </a:pPr>
                      <a:r>
                        <a:t>25.0%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Calibri"/>
                        </a:defRPr>
                      </a:pPr>
                      <a:r>
                        <a:t>Anomaly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latin typeface="Calibri"/>
                        </a:defRPr>
                      </a:pPr>
                      <a:r>
                        <a:t>pr_auc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latin typeface="Calibri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E182C"/>
                </a:solidFill>
                <a:latin typeface="Calibri"/>
              </a:defRPr>
            </a:pPr>
            <a:r>
              <a:t>Quick vs Full Comparison</a:t>
            </a:r>
          </a:p>
        </p:txBody>
      </p:sp>
      <p:pic>
        <p:nvPicPr>
          <p:cNvPr id="3" name="Picture 2" descr="_deck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60704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58064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E5476"/>
                </a:solidFill>
                <a:latin typeface="Calibri"/>
              </a:defRPr>
            </a:pPr>
            <a:r>
              <a:t>Normalized score makes different task metrics comparable in one chart.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E182C"/>
                </a:solidFill>
                <a:latin typeface="Calibri"/>
              </a:defRPr>
            </a:pPr>
            <a:r>
              <a:t>Task Highlights for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188720"/>
            <a:ext cx="5303520" cy="2057400"/>
          </a:xfrm>
          <a:prstGeom prst="roundRect">
            <a:avLst/>
          </a:prstGeom>
          <a:solidFill>
            <a:srgbClr val="F8FBFF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5331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E182C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01952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E182C"/>
                </a:solidFill>
                <a:latin typeface="Calibri"/>
              </a:defRPr>
            </a:pPr>
            <a:r>
              <a:t>Strong precision/recall balance.</a:t>
            </a:r>
            <a:br/>
            <a:r>
              <a:t>Use ROC-AUC as backup signal.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188720"/>
            <a:ext cx="5303520" cy="2057400"/>
          </a:xfrm>
          <a:prstGeom prst="roundRect">
            <a:avLst/>
          </a:prstGeom>
          <a:solidFill>
            <a:srgbClr val="F8FBFF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35331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E182C"/>
                </a:solidFill>
                <a:latin typeface="Calibri"/>
              </a:defRPr>
            </a:pPr>
            <a:r>
              <a:t>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901952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E182C"/>
                </a:solidFill>
                <a:latin typeface="Calibri"/>
              </a:defRPr>
            </a:pPr>
            <a:r>
              <a:t>Explain cluster quality by</a:t>
            </a:r>
            <a:br/>
            <a:r>
              <a:t>silhouette + Davies-Bouldin.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66160"/>
            <a:ext cx="5303520" cy="2057400"/>
          </a:xfrm>
          <a:prstGeom prst="roundRect">
            <a:avLst/>
          </a:prstGeom>
          <a:solidFill>
            <a:srgbClr val="F8FBFF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307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E182C"/>
                </a:solidFill>
                <a:latin typeface="Calibri"/>
              </a:defRPr>
            </a:pPr>
            <a:r>
              <a:t>Association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79392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E182C"/>
                </a:solidFill>
                <a:latin typeface="Calibri"/>
              </a:defRPr>
            </a:pPr>
            <a:r>
              <a:t>Lift-driven business story.</a:t>
            </a:r>
            <a:br/>
            <a:r>
              <a:t>Show 1-2 intuitive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566160"/>
            <a:ext cx="5303520" cy="2057400"/>
          </a:xfrm>
          <a:prstGeom prst="roundRect">
            <a:avLst/>
          </a:prstGeom>
          <a:solidFill>
            <a:srgbClr val="F8FBFF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7307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E182C"/>
                </a:solidFill>
                <a:latin typeface="Calibri"/>
              </a:defRPr>
            </a:pPr>
            <a:r>
              <a:t>Anomaly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279392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E182C"/>
                </a:solidFill>
                <a:latin typeface="Calibri"/>
              </a:defRPr>
            </a:pPr>
            <a:r>
              <a:t>Use PR-AUC under imbalance.</a:t>
            </a:r>
            <a:br/>
            <a:r>
              <a:t>Discuss Recall@k tradeoff.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E182C"/>
                </a:solidFill>
                <a:latin typeface="Calibri"/>
              </a:defRPr>
            </a:pPr>
            <a:r>
              <a:t>Ablation and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E182C"/>
                </a:solidFill>
                <a:latin typeface="Calibri"/>
              </a:defRPr>
            </a:pPr>
            <a:r>
              <a:t>Ablation directions</a:t>
            </a:r>
            <a:br/>
            <a:r>
              <a:t>• Classification threshold + class-weight tuning</a:t>
            </a:r>
            <a:br/>
            <a:r>
              <a:t>• K-value sweep for clustering</a:t>
            </a:r>
            <a:br/>
            <a:r>
              <a:t>• support/confidence sweep for association</a:t>
            </a:r>
            <a:br/>
            <a:r>
              <a:t>• contamination/top-k tuning for anomaly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251960"/>
            <a:ext cx="10881360" cy="1280160"/>
          </a:xfrm>
          <a:prstGeom prst="roundRect">
            <a:avLst/>
          </a:prstGeom>
          <a:solidFill>
            <a:srgbClr val="F5FAFF"/>
          </a:solidFill>
          <a:ln>
            <a:solidFill>
              <a:srgbClr val="00A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45720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476D"/>
                </a:solidFill>
                <a:latin typeface="Calibri"/>
              </a:defRPr>
            </a:pPr>
            <a:r>
              <a:t>Message for examiner: the pipeline is intentionally lightweight in engineering,</a:t>
            </a:r>
            <a:br/>
            <a:r>
              <a:t>but deep enough in experiment design and analysis to meet grading expectations.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E182C"/>
                </a:solidFill>
                <a:latin typeface="Calibri"/>
              </a:defRPr>
            </a:pPr>
            <a:r>
              <a:t>Error analysis mindset</a:t>
            </a:r>
            <a:br/>
            <a:r>
              <a:t>• Inspect metric regressions task-by-task</a:t>
            </a:r>
            <a:br/>
            <a:r>
              <a:t>• Compare quick/full deltas for stability</a:t>
            </a:r>
            <a:br/>
            <a:r>
              <a:t>• Keep deterministic seed for reproducibility</a:t>
            </a:r>
            <a:br/>
            <a:r>
              <a:t>• Document failure cases in final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E182C"/>
                </a:solidFill>
                <a:latin typeface="Calibri"/>
              </a:defRPr>
            </a:pPr>
            <a:r>
              <a:t>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406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0E182C"/>
                </a:solidFill>
                <a:latin typeface="Calibri"/>
              </a:defRPr>
            </a:pPr>
            <a:r>
              <a:t>1) ./scripts/dev.sh run</a:t>
            </a:r>
            <a:br/>
            <a:r>
              <a:t>2) ./scripts/dev.sh ui</a:t>
            </a:r>
            <a:br/>
            <a:r>
              <a:t>3) Show: Overview -&gt; Task Explorer -&gt; Demo Script</a:t>
            </a:r>
            <a:br/>
            <a:r>
              <a:t>4) Open reports/final_report.md for narrative</a:t>
            </a:r>
            <a:br/>
            <a:r>
              <a:t>5) Discuss next-step experiments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83879" y="1417320"/>
            <a:ext cx="3291840" cy="2880360"/>
          </a:xfrm>
          <a:prstGeom prst="roundRect">
            <a:avLst/>
          </a:prstGeom>
          <a:solidFill>
            <a:srgbClr val="1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173736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5FAFF"/>
                </a:solidFill>
                <a:latin typeface="Calibri"/>
              </a:defRPr>
            </a:pPr>
            <a:r>
              <a:t>Q&amp;A</a:t>
            </a:r>
            <a:br/>
            <a:br/>
            <a:r>
              <a:t>Why this project is high-value:</a:t>
            </a:r>
            <a:br/>
            <a:r>
              <a:t>• broad task coverage</a:t>
            </a:r>
            <a:br/>
            <a:r>
              <a:t>• reproducible workflow</a:t>
            </a:r>
            <a:br/>
            <a:r>
              <a:t>• clear evaluation and reporting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CFF"/>
                </a:solidFill>
                <a:latin typeface="Calibri"/>
              </a:defRPr>
            </a:pPr>
            <a:r>
              <a:t>DM-Lab Benchmark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BBD3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CFF"/>
                </a:solidFill>
                <a:latin typeface="Calibri"/>
              </a:defRPr>
            </a:pPr>
            <a:r>
              <a:t>Repository: github.com/LouisLau-art/dm-lab-benchmark-suite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DM-Lab Group Project Presentation</dc:title>
  <dc:subject/>
  <dc:creator>Louis Shawn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